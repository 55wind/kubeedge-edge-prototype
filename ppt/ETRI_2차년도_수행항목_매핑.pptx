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8EA9DB"/>
                </a:solidFill>
                <a:latin typeface="맑은 고딕"/>
                <a:ea typeface="맑은 고딕"/>
              </a:rPr>
              <a:t>ETRI AI_EDGE 2차년도</a:t>
            </a:r>
          </a:p>
          <a:p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수행항목-해결방안 매핑 결과보고</a:t>
            </a:r>
          </a:p>
          <a:p>
            <a:r>
              <a:rPr sz="1600" b="0" i="0">
                <a:solidFill>
                  <a:srgbClr val="D9D9D9"/>
                </a:solidFill>
                <a:latin typeface="맑은 고딕"/>
                <a:ea typeface="맑은 고딕"/>
              </a:rPr>
              <a:t>보안 코어 모듈(EAM: Edge Auth Manager) 구현 산출물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상명대학교</a:t>
            </a:r>
          </a:p>
          <a:p>
            <a:r>
              <a:rPr sz="1400" b="0" i="0">
                <a:solidFill>
                  <a:srgbClr val="8EA9DB"/>
                </a:solidFill>
                <a:latin typeface="맑은 고딕"/>
                <a:ea typeface="맑은 고딕"/>
              </a:rPr>
              <a:t>2026-08-03</a:t>
            </a:r>
          </a:p>
          <a:p>
            <a:r>
              <a:rPr sz="1100" b="0" i="0">
                <a:solidFill>
                  <a:srgbClr val="D9D9D9"/>
                </a:solidFill>
                <a:latin typeface="맑은 고딕"/>
                <a:ea typeface="맑은 고딕"/>
              </a:rPr>
              <a:t>저장소: logperch - 소스 포함 완전체 산출물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2차년도 수행 범위 재정리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핵심 보안 기능 중심으로 재집중 (ETRI 2026-06-17 킥오프 회의록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48640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보안 4대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72184"/>
            <a:ext cx="5266944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디바이스 등록(Registration) - bootstrap token + CSR -&gt; X.509 발급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통신 인증(Authentication) - mTLS(클라이언트 인증서) + Bearer JWT(RS256)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AAA - Authentication / Authorization(RBAC) / Accounting(감사로그)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데이터 전송 보안 - TLS 채널 + JWS(RS256) 페이로드 서명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51560"/>
            <a:ext cx="560527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051560"/>
            <a:ext cx="560527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★핵심 수행항목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605272" cy="23774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72184"/>
            <a:ext cx="5385816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수행항목 3: 대규모(1,000기) 디바이스 인증 AAA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담당: 박건우 · 홍승우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04040"/>
                </a:solidFill>
                <a:latin typeface="맑은 고딕"/>
                <a:ea typeface="맑은 고딕"/>
              </a:rPr>
              <a:t>• 1,000기 동시 인증 스톰 SLA 실측 기반 외삽 검증(슬라이드 12)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77639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범위 조정 메모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399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98263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장애 인지·자동 복구는 2차년도 필수 범위에서 제외하고, 시연용 최소 수준(예: 정식 인증 실패 401 거부 + 감사기록)으로만 다룬다.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프레임워크(KubeEdge/ETRI 플랫폼) 전체 통합은 3차년도 이관 또는 타 기관 연계 항목으로 조정하고, 본 저장소는 보안 코어 모듈의 REST API 계약(통합 지점)까지 제공한다.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근거: ETRI 2026-06-17 킥오프 회의록 - 상명대(서대희 교수·김원빈 연구교수·박건우·김도현) / ETRI(나갑주 팀장·김선형·정진욱) 참석.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1차년도 -&gt; 2차년도 업그레이드 개요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출처: README.md '1차년도 대비 변경 요약'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408176" cy="41148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051560"/>
            <a:ext cx="470916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84832" y="1051560"/>
            <a:ext cx="4562856" cy="41148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1차년도 (prototype-y1/)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051560"/>
            <a:ext cx="5010912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051560"/>
            <a:ext cx="4864608" cy="41148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2차년도 (본 repo)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140817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보안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463040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490472"/>
            <a:ext cx="456285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인증/인가 없음, RabbitMQ 평문 비밀번호 관행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463040"/>
            <a:ext cx="501091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1490472"/>
            <a:ext cx="4864608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X.509 PKI + mTLS + JWT(RS256) + RBAC + JWS 서명 + 감사로그 전면 도입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0280"/>
            <a:ext cx="1554480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267712"/>
            <a:ext cx="140817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비밀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240280"/>
            <a:ext cx="4709160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2" y="2267712"/>
            <a:ext cx="456285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매니페스트에 비밀번호 하드코딩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2240280"/>
            <a:ext cx="5010912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267712"/>
            <a:ext cx="4864608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배포 스크립트가 openssl rand로 매 배포 시 Secret 생성, 저장소에 비밀값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044952"/>
            <a:ext cx="140817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통신 구조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017520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3044952"/>
            <a:ext cx="456285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프로토타입 수준, 별도 AAA 계층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017520"/>
            <a:ext cx="501091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044952"/>
            <a:ext cx="4864608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제어(KubeEdge 채널) / 데이터·인증(REST+mTLS+JWT) 하이브리드 분리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1554480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822192"/>
            <a:ext cx="140817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네트워크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3794760"/>
            <a:ext cx="4709160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84832" y="3822192"/>
            <a:ext cx="456285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고정 IP 하드코딩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794760"/>
            <a:ext cx="5010912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822192"/>
            <a:ext cx="4864608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__CLOUD_IP__ 플레이스홀더 + 게이트웨이/사설IP 집선 구조(src/eam/gateway)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72000"/>
            <a:ext cx="1554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599432"/>
            <a:ext cx="140817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성능 검증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4572000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4832" y="4599432"/>
            <a:ext cx="456285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별도 벤치마크 없음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4572000"/>
            <a:ext cx="501091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4599432"/>
            <a:ext cx="4864608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bench/ N-스윕 실측 + M/M/c 외삽 모델로 1,000기 SLA 정량 검증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49240"/>
            <a:ext cx="1554480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5376672"/>
            <a:ext cx="140817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시연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5349240"/>
            <a:ext cx="4709160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84832" y="5376672"/>
            <a:ext cx="4562856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K8s 환경 시연만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5349240"/>
            <a:ext cx="5010912" cy="777240"/>
          </a:xfrm>
          <a:prstGeom prst="rect">
            <a:avLst/>
          </a:prstGeom>
          <a:solidFill>
            <a:srgbClr val="D9D9D9"/>
          </a:solidFill>
          <a:ln w="63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3992" y="5376672"/>
            <a:ext cx="4864608" cy="722376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로컬(클러스터 불필요) + K8s 실환경, 보안 적용 전/후 비교 데모 2경로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시스템 아키텍처 - 4계층 보안 흐름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Device - Agent - Manager - Backend (출처: docs/05-kubeedge-integration.md)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2148840" cy="1920240"/>
          </a:xfrm>
          <a:prstGeom prst="roundRect">
            <a:avLst/>
          </a:prstGeom>
          <a:solidFill>
            <a:srgbClr val="2E5490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Device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온디바이스 센서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(가상/실)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965960"/>
            <a:ext cx="2331720" cy="192024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Agent (엣지)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EdgeAgent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enroll/get_token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send_telemetry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65960"/>
            <a:ext cx="2651760" cy="192024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Manager (클라우드 코어)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X.509 CA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RBAC 인가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SQLite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965960"/>
            <a:ext cx="2313432" cy="1920240"/>
          </a:xfrm>
          <a:prstGeom prst="roundRect">
            <a:avLst/>
          </a:prstGeom>
          <a:solidFill>
            <a:srgbClr val="2E5490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Backend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대시보드/감사 소비자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GET /audit, /devices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926080"/>
            <a:ext cx="640080" cy="0"/>
          </a:xfrm>
          <a:prstGeom prst="bentConnector3">
            <a:avLst/>
          </a:prstGeom>
          <a:ln w="28575">
            <a:solidFill>
              <a:srgbClr val="2E5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926080"/>
            <a:ext cx="594360" cy="0"/>
          </a:xfrm>
          <a:prstGeom prst="bentConnector3">
            <a:avLst/>
          </a:prstGeom>
          <a:ln w="28575">
            <a:solidFill>
              <a:srgbClr val="2E5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2926080"/>
            <a:ext cx="594360" cy="0"/>
          </a:xfrm>
          <a:prstGeom prst="bentConnector3">
            <a:avLst/>
          </a:prstGeom>
          <a:ln w="28575">
            <a:solidFill>
              <a:srgbClr val="2E5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68880" y="15819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맑은 고딕"/>
                <a:ea typeface="맑은 고딕"/>
              </a:rPr>
              <a:t>X.509 enroll
(CSR)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5819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맑은 고딕"/>
                <a:ea typeface="맑은 고딕"/>
              </a:rPr>
              <a:t>mTLS+JWT / JWS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5819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맑은 고딕"/>
                <a:ea typeface="맑은 고딕"/>
              </a:rPr>
              <a:t>audit 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434840"/>
            <a:ext cx="2331720" cy="1188720"/>
          </a:xfrm>
          <a:prstGeom prst="roundRect">
            <a:avLst/>
          </a:prstGeom>
          <a:solidFill>
            <a:srgbClr val="2E5490"/>
          </a:solidFill>
          <a:ln w="12700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Gateway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사설IP 하위 Device 집선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• 배치 업링크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2148840" cy="118872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/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SubDevice 다수
(사설망, 비공인 IP)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5029200"/>
            <a:ext cx="640080" cy="0"/>
          </a:xfrm>
          <a:prstGeom prst="bentConnector3">
            <a:avLst/>
          </a:prstGeom>
          <a:ln w="28575">
            <a:solidFill>
              <a:srgbClr val="2E54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389120" y="3886200"/>
            <a:ext cx="2560320" cy="548640"/>
          </a:xfrm>
          <a:prstGeom prst="bentConnector3">
            <a:avLst/>
          </a:prstGeom>
          <a:ln w="19050">
            <a:solidFill>
              <a:srgbClr val="8EA9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0560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5490"/>
                </a:solidFill>
                <a:latin typeface="맑은 고딕"/>
                <a:ea typeface="맑은 고딕"/>
              </a:rPr>
              <a:t>{gateway_id, batch:[...]} - 단일 mTLS 업링크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1. K8s(KubeEdge) 구동·성능 (1,000기 지연 검증)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K8s(KubeEdge) 환경에서 1,000기 규모 디바이스 운용 시 지연시간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N=10~200 실측(enroll/auth/telemetry) 후 M/M/c 대기행렬로 1,000기 외삽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토큰 캐시·게이트웨이 집선·세션 재사용으로 인증 스톰 부하 자체를 완화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k8s/*.yaml, deploy/demo-setup-v2.sh, bench/run_bench.py, bench/model.py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docs/06-performance-plan.md, docs/perf/PERFORMANCE_REPORT.md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tests/test_manifests.py, tests/test_bench_model.py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deploy/demo-setup-v2.sh(K8s 실환경) / bench/run_bench.py &amp;&amp; python bench/report.py(실측 재현)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구현완료 + 문서화 + 시연가능 (K8s 실환경은 Multipass 필요)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2. 미들웨어 통신 방식 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KubeEdge 채널 기반 vs 별도 프로토콜(HTTPS/AMQP) 통신 방식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하이브리드 채택 - 제어(파드 스케줄링)는 KubeEdge 채널,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데이터·인증(등록/AAA/텔레메트리)은 별도 mTLS REST 채널로 분리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src/eam/manager/app.py(REST API), k8s/rabbitmq.yaml(선택적 대안, 미사용)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docs/01-comm-method-decision.md, docs/02-manager-coexistence.md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tests/test_manager_api.py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해당 없음 (설계 결정 문서)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구현완료(하이브리드 구조로 반영) + 문서화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3. 대규모(1,000기) 디바이스 인증 AAA ★핵심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1,000기 규모 디바이스에 대한 인증·인가·감사(AAA) 체계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X.509 PKI + mTLS + Bearer JWT(RS256) + RBAC + JWS 페이로드 서명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+ SQLite 감사로그(모든 인증/인가 이벤트 기록)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src/eam/common/{pki,jws,audit}.py, src/eam/manager/{app,ca,rbac,store,schemas}.py, src/eam/simulator/{fleet,vdevice}.py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docs/04-rnr-interface.md, docs/06-performance-plan.md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test_pki/test_jws/test_audit/test_manager_api/test_rbac/test_simulator.py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python -m eam.simulator.fleet --n 200(실측), demo/run_demo.py(AAA 흐름 시연)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구현완료 + 문서화 + 시연가능  |  담당: 박건우 · 홍승우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4. KubeEdge 연동 구조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KubeEdge CloudCore-EdgeCore 구조 위에 4계층 보안 흐름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제어 평면(CloudHub-EdgeHub)은 그대로 유지, 그 위에 독립적인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REST+mTLS+JWT/JWS AAA 계층으로 Device-Agent-Manager-Backend 4계층 관통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k8s/{manager,agent-edge1,agent-edge2,gateway,namespace}.yaml, deploy/demo-setup-v2.sh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docs/05-kubeedge-integration.md (4계층 흐름도 mermaid 포함)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tests/test_manifests.py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deploy/demo-setup-v2.sh + demo/DEMO_SCENARIO.md §2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구현완료 + 문서화 + 시연가능 (K8s 실환경 Multipass 필요, 로컬은 즉시)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5. 네트워크 구성·주소 체계 (공인 IP)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공인 IP 직접 연결 vs 게이트웨이/사설 IP 네트워크 주소 체계 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권고: 게이트웨이 + 사설 IP - 공격표면 축소, 등록단위 축소, 사설 IP 재사용,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Manager 동시 인증 부하 완화(4축 비교 모두 우위)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src/eam/gateway/gateway.py, k8s/gateway.yaml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docs/03-network-addressing.md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tests/test_gateway.py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demo/DEMO_SCENARIO.md §2.2 (게이트웨이 집선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구현완료 + 문서화 + 시연가능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6. 보안 모듈-프레임워크 R&amp;R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상명대 보안 코어 모듈과 ETRI 프레임워크 간 역할·책임(R&amp;R) 및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연동 인터페이스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상명대 = 보안 코어(EAM) 제공자, ETRI = KubeEdge 플랫폼·상위 앱 제공자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Manager REST API(/api/v1/*) + 인증서/JWT 신뢰 루트만이 유일한 통합 지점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src/eam/manager/app.py(공개 계약), src/eam/manager/schemas.py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docs/04-rnr-interface.md (엔드포인트 표, 인증서 프로파일, JWT 클레임 규격)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tests/test_manager_api.py (엔드포인트 계약 검증)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해당 없음 (문서 산출물)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문서화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수행항목 7. 시연 (보안 적용 전·후 비교)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요구 (해야 할 부분)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보안 적용 전 상태와 적용 후 상태를 대조하는 시연 시나리오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024128"/>
            <a:ext cx="539496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해결방안 (대응)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389888"/>
            <a:ext cx="5394960" cy="13258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517550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INSECURE_MODE 스위치로 동일 Manager를 두 번 기동해 전/후를 완전히 분리·재현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• 감사(accounting)는 모드와 무관하게 항상 기록 -&gt; 같은 로그에서 비교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본 저장소 산출물 (실제 경로: 코드·문서·테스트)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18688"/>
            <a:ext cx="11274552" cy="17830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1105509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코드: demo/run_demo.py, src/eam/manager/app.py(INSECURE_MODE)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문서: demo/DEMO_SCENARIO.md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테스트: tests/test_manifests.py (run_demo.py --fast exit 0 검증 포함)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• 데모: python demo/run_demo.py / --fast, K8s: kubectl set env ... INSECURE_MODE=true|false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928"/>
            <a:ext cx="11274552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상태: 구현완료 + 문서화 + 시연가능 (로컬 검증 완료: exit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1,000기 성능 검증 결과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실측(N=10~200) 기반 M/M/c 외삽 - 출처: docs/perf/PERFORMANCE_REPORT.md</a:t>
            </a:r>
          </a:p>
        </p:txBody>
      </p:sp>
      <p:pic>
        <p:nvPicPr>
          <p:cNvPr id="4" name="Picture 3" descr="p95_latency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212080" cy="3474720"/>
          </a:xfrm>
          <a:prstGeom prst="rect">
            <a:avLst/>
          </a:prstGeom>
        </p:spPr>
      </p:pic>
      <p:pic>
        <p:nvPicPr>
          <p:cNvPr id="5" name="Picture 4" descr="throughput_vs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051560"/>
            <a:ext cx="52120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auth-only p95 지연시간 vs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4572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auth-only 처리량 vs 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92040"/>
            <a:ext cx="1127455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1127455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1,000기 외삽 결론 (M/M/c, 단일 워커 c=1)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57800"/>
            <a:ext cx="11274552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312664"/>
            <a:ext cx="11055096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실측 단일 워커 서비스율 μ = 23.76 auth/s (N=25 auth-only 버스트 최댓값)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1,000기 60초 내 동시 재인증 스톰 -&gt; 유틸라이제이션 ρ = 0.70 (안정)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대기시간(Wq): 평균 99.0ms / p95 372.6ms / p99 599.6ms (목표 SLA p95&lt;1.0s 충족)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권장 레플리카 수: 1대 (단일 인스턴스로 목표 SLA 충족)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참고: 실측 auth p95 @ N=200 = 534.1ms (측정 최대 N에서의 실측치)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시연 시나리오 - 보안 적용 전·후 비교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출처: demo/DEMO_SCENARIO.md (수행항목 4·7)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2011680" cy="1097280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186537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1단계 (BEFORE)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032" y="1051560"/>
            <a:ext cx="9052560" cy="10972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097280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내용: Manager를 INSECURE_MODE=true로 기동 - 등록/인증 없이 임의 device_id로 텔레메트리 직접 POST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2E5490"/>
                </a:solidFill>
                <a:latin typeface="맑은 고딕"/>
                <a:ea typeface="맑은 고딕"/>
              </a:rPr>
              <a:t>촬영 포인트: HTTP 200 {status: accepted} - 누구나 데이터를 주입할 수 있는 상태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21992"/>
            <a:ext cx="2011680" cy="1097280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21992"/>
            <a:ext cx="186537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2단계-a (AFTER, 거부)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2221992"/>
            <a:ext cx="9052560" cy="10972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267712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내용: 동일 Manager를 INSECURE_MODE=false로 재기동 후 똑같은 미인증 요청 재현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2E5490"/>
                </a:solidFill>
                <a:latin typeface="맑은 고딕"/>
                <a:ea typeface="맑은 고딕"/>
              </a:rPr>
              <a:t>촬영 포인트: HTTP 401 즉시 거부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92424"/>
            <a:ext cx="2011680" cy="1097280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392424"/>
            <a:ext cx="186537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2단계-b (AFTER, 정상흐름)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3392424"/>
            <a:ext cx="9052560" cy="10972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438144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내용: 정식 디바이스: CSR 등록 -&gt; 인증서 발급 -&gt; Bearer JWT 발급 -&gt; JWS 서명 텔레메트리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2E5490"/>
                </a:solidFill>
                <a:latin typeface="맑은 고딕"/>
                <a:ea typeface="맑은 고딕"/>
              </a:rPr>
              <a:t>촬영 포인트: 정식 절차를 거친 디바이스만 통과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62856"/>
            <a:ext cx="2011680" cy="1097280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562856"/>
            <a:ext cx="186537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3단계 (감사 확인)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2032" y="4562856"/>
            <a:ext cx="9052560" cy="10972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608576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내용: 감사로그(audit log) tail 출력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2E5490"/>
                </a:solidFill>
                <a:latin typeface="맑은 고딕"/>
                <a:ea typeface="맑은 고딕"/>
              </a:rPr>
              <a:t>촬영 포인트: 미인증 요청도 401로 즉시 감사되고, 정식 디바이스의 register/auth_success/telemetry_accept 이벤트가 모두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79008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로컬: python demo/run_demo.py [--fast]  |  K8s: kubectl set env deployment/manager -n edge-auth INSECURE_MODE=true|false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기능-화면 매핑 총괄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모든 캡처는 실제 플랫폼 화면 - Swagger UI·Kubernetes Dashboard·실제 CLI 출력 (ppt/capture_*.py 로 재생성)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713232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항목 ⑦·④  보안 전·후 비교 시연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0752" y="1097280"/>
            <a:ext cx="6537960" cy="713232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097280"/>
            <a:ext cx="6309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demo/run_demo.py 실행 콘솔 - INSECURE 모드 수용(200) vs 보안 모드 거부(401) + 감사로그 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1864" y="1097280"/>
            <a:ext cx="1389888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41864" y="1097280"/>
            <a:ext cx="1389888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슬라이드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3200400" cy="713232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01952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항목 ③  디바이스 등록·인가 관리 (AAA)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0752" y="1901952"/>
            <a:ext cx="6537960" cy="713232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901952"/>
            <a:ext cx="6309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GET /api/v1/devices 관리 API 응답 - 등록 상태(approved/revoked)·인증서 시리얼·last_seen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1864" y="1901952"/>
            <a:ext cx="1389888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41864" y="1901952"/>
            <a:ext cx="1389888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슬라이드 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06624"/>
            <a:ext cx="3200400" cy="713232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706624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항목 ③  Accounting 감사로그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0752" y="2706624"/>
            <a:ext cx="6537960" cy="713232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706624"/>
            <a:ext cx="6309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GET /api/v1/audit - 등록/인증 성공/위조 JWS 거부/폐기 후 인증 실패 실기록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1864" y="2706624"/>
            <a:ext cx="1389888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41864" y="2706624"/>
            <a:ext cx="1389888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슬라이드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11296"/>
            <a:ext cx="3200400" cy="713232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511296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항목 ⑥  연동 인터페이스 (R&amp;R)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0752" y="3511296"/>
            <a:ext cx="6537960" cy="713232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511296"/>
            <a:ext cx="6309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Swagger UI(/docs) - Manager 전체 API 계약 (docs/04 인터페이스 명세와 1:1)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41864" y="3511296"/>
            <a:ext cx="1389888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1864" y="3511296"/>
            <a:ext cx="1389888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슬라이드 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15968"/>
            <a:ext cx="3200400" cy="713232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315968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항목 ①·③  대규모(1,000기) 인증 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0752" y="4315968"/>
            <a:ext cx="6537960" cy="713232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4315968"/>
            <a:ext cx="6309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가상 디바이스 일괄 등록·인증·전송 CLI(python -m eam.simulator.fleet) - 성능 차트는 슬라이드 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41864" y="4315968"/>
            <a:ext cx="1389888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41864" y="4315968"/>
            <a:ext cx="1389888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슬라이드 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3200400" cy="713232"/>
          </a:xfrm>
          <a:prstGeom prst="rect">
            <a:avLst/>
          </a:prstGeom>
          <a:solidFill>
            <a:srgbClr val="2E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120640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항목 ①·④  실제 K8s 클러스터 구동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30752" y="5120640"/>
            <a:ext cx="6537960" cy="713232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5120640"/>
            <a:ext cx="6309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맑은 고딕"/>
                <a:ea typeface="맑은 고딕"/>
              </a:rPr>
              <a:t>Kubernetes Dashboard(edge-auth 네임스페이스)와 kubectl 실제 상태 - manager/agent/gateway 파드 Running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41864" y="5120640"/>
            <a:ext cx="1389888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41864" y="5120640"/>
            <a:ext cx="1389888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맑은 고딕"/>
                <a:ea typeface="맑은 고딕"/>
              </a:rPr>
              <a:t>슬라이드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16752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캡처 화면의 모든 데이터(디바이스·감사 이벤트·지연 수치)는 실제 시스템 실행 결과이며, docs/screens/ 에 원본 PNG로 저장되어 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화면 1. 보안 적용 전·후 비교 시연 (수행항목 ⑦·④)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demo/run_demo.py --fast 실제 실행 출력</a:t>
            </a:r>
          </a:p>
        </p:txBody>
      </p:sp>
      <p:pic>
        <p:nvPicPr>
          <p:cNvPr id="4" name="Picture 3" descr="screen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60" y="1097280"/>
            <a:ext cx="8362231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79592"/>
            <a:ext cx="11274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BEFORE: 미인증 주입 HTTP 200 수용 -&gt; AFTER: 동일 요청 401 거부, 정식 등록·인증 디바이스만 성공, 하단은 감사로그 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화면 2. 디바이스 관리·감사로그 조회 (수행항목 ③ AAA)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실행 중인 Manager의 Swagger UI에서 직접 호출한 실제 응답 - RBAC(operator/admin) 적용</a:t>
            </a:r>
          </a:p>
        </p:txBody>
      </p:sp>
      <p:pic>
        <p:nvPicPr>
          <p:cNvPr id="4" name="Picture 3" descr="platform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3341"/>
            <a:ext cx="5532120" cy="4472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0651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GET /api/v1/devices - 등록 상태·인증서 시리얼·last_seen (revoked 상태 포함)</a:t>
            </a:r>
          </a:p>
        </p:txBody>
      </p:sp>
      <p:pic>
        <p:nvPicPr>
          <p:cNvPr id="6" name="Picture 5" descr="platform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174" y="1097280"/>
            <a:ext cx="4469035" cy="4544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9632" y="5696712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GET /api/v1/audit - 등록/인증 성공, 위조 JWS 거부, 폐기 후 인증 실패 실기록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화면 3. 연동 인터페이스·대규모 인증 시뮬레이터 (수행항목 ⑥·①·③)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Swagger UI(/docs) + 가상 디바이스 fleet CLI 실제 실행 출력</a:t>
            </a:r>
          </a:p>
        </p:txBody>
      </p:sp>
      <p:pic>
        <p:nvPicPr>
          <p:cNvPr id="4" name="Picture 3" descr="platform_swagg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5524"/>
            <a:ext cx="5532120" cy="3688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68468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Swagger UI - Manager 전체 API 계약 (docs/04 §2 인터페이스 명세와 1:1 대응)</a:t>
            </a:r>
          </a:p>
        </p:txBody>
      </p:sp>
      <p:pic>
        <p:nvPicPr>
          <p:cNvPr id="6" name="Picture 5" descr="screen_fl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19148"/>
            <a:ext cx="5532120" cy="3300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9632" y="5074843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python -m eam.simulator.fleet - N기 일괄 등록·인증·전송, 단계별 p50/p95/p99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화면 4. 실제 Kubernetes 클러스터 구동 (수행항목 ①·④)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kind 기반 2노드 클러스터(etri-edge)에 본 저장소 k8s/*.yaml 을 그대로 배포한 실제 상태</a:t>
            </a:r>
          </a:p>
        </p:txBody>
      </p:sp>
      <p:pic>
        <p:nvPicPr>
          <p:cNvPr id="4" name="Picture 3" descr="k8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5524"/>
            <a:ext cx="5532120" cy="3688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68468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Kubernetes Dashboard - edge-auth 네임스페이스, manager/agent×2/gateway 4개 Deployment Running</a:t>
            </a:r>
          </a:p>
        </p:txBody>
      </p:sp>
      <p:pic>
        <p:nvPicPr>
          <p:cNvPr id="6" name="Picture 5" descr="k8s_p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60874"/>
            <a:ext cx="5532120" cy="2017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9632" y="4433117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맑은 고딕"/>
                <a:ea typeface="맑은 고딕"/>
              </a:rPr>
              <a:t>kubectl 실제 출력 - edge 라벨 노드에 agent/gateway 배치, manager NodePort 30443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3152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맑은 고딕"/>
                <a:ea typeface="맑은 고딕"/>
              </a:rPr>
              <a:t>향후 계획</a:t>
            </a:r>
          </a:p>
          <a:p>
            <a:r>
              <a:rPr sz="1300" b="0" i="0">
                <a:solidFill>
                  <a:srgbClr val="8EA9DB"/>
                </a:solidFill>
                <a:latin typeface="맑은 고딕"/>
                <a:ea typeface="맑은 고딕"/>
              </a:rPr>
              <a:t>3차년도 이관 항목 및 ETRI 협의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486400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3차년도 이관 / 확장 검토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46634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72184"/>
            <a:ext cx="5266944" cy="4553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장애 인지·자동 복구 - 2차년도는 시연용 최소 수준(401 거부+감사)만 제공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프레임워크(KubeEdge/ETRI 플랫폼) 전체 통합 - 3차년도 또는 타 기관 연계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실네트워크/K8s 환경 재측정 (현재 μ=23.76 auth/s는 in-process ASGI 기준)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uvicorn 다중 워커 + SQLite -&gt; 다른 저장소 전환 (레플리카 확장 시 락 경합 대응)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CA 계층 구조 - 다기관 연동 시 Intermediate CA 필요 여부 결정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인증서/키 영속화 - emptyDir -&gt; PVC 또는 KMS/HSM 연동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RabbitMQ 등 비동기 채널 채택 여부, EdgeMesh 도입 검토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auth/token 키 소지 증명(서명 nonce 챌린지) - 현재는 인증서 제시만 검증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RBAC default-deny 전환 - 미등재 엔드포인트의 암묵적 허용 제거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• JWS freshness(재전송 방지) - 텔레메트리 서명에 타임스탬프/nonce 검증 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51560"/>
            <a:ext cx="560527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051560"/>
            <a:ext cx="5605272" cy="329184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ETRI 협의 필요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605272" cy="466344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72184"/>
            <a:ext cx="5385816" cy="4553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mTLS 종단 위치 - 리버스 프록시/Ingress 실제 구성 확정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다수 Manager 트래픽 라우팅 - site/group 샤딩 규칙의 실배포 토폴로지 매핑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목표 SLA 재정의 - 현재 Wq p95&lt;1.0s는 임의 설정값, 실제 요구사항 확정 필요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1,000기 규모 실증 테스트베드 - 물리/가상 디바이스 자원 배정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404040"/>
                </a:solidFill>
                <a:latin typeface="맑은 고딕"/>
                <a:ea typeface="맑은 고딕"/>
              </a:rPr>
              <a:t>• 회의 참석: 상명대(서대희 교수·김원빈 연구교수·박건우·김도현) / ETRI(나갑주 팀장·김선형·정진욱)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ETRI AI_EDGE 2차년도 - 상명대학교 보안 코어 모듈  |  2026-08-03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547104"/>
            <a:ext cx="5486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