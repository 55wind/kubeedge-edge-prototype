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1. 쿠버네티스(KubeEdge) 기반 구동·성능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ETRI 2차 킥오프 매핑 자료 기준 - 기존(1차년도) → 현재(2차년도), 캡처는 실제 실행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5074920" cy="13898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64008"/>
          <a:lstStyle/>
          <a:p>
            <a:pPr algn="ctr"/>
            <a:r>
              <a:rPr sz="1250" b="1" i="0">
                <a:solidFill>
                  <a:srgbClr val="1F3864"/>
                </a:solidFill>
                <a:latin typeface="맑은 고딕"/>
                <a:ea typeface="맑은 고딕"/>
              </a:rPr>
              <a:t>기존 (1차년도)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KubeEdge 클러스터 구축 스크립트까지만 - 보안 기능의 K8s 구동·성능 검증 없음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앱 이미지는 저장소 밖에서 수동 빌드 (소스 미포함)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605272" y="1444752"/>
            <a:ext cx="566928" cy="475488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987552"/>
            <a:ext cx="5468112" cy="1389888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64008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현재 (2차년도)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• 보안 코어 모듈을 K8s에 탑재 - eam-manager:v2/eam-agent:v2 이미지·매니페스트·Dockerfile 포함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• 가상 디바이스 실측(N=10~200) + 1,000기 M/M/c 외삽: ρ=0.70 안정, 대기 p95 372.6ms, 권장 replica 1</a:t>
            </a:r>
          </a:p>
        </p:txBody>
      </p:sp>
      <p:pic>
        <p:nvPicPr>
          <p:cNvPr id="7" name="Picture 6" descr="p95_latency_vs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542032"/>
            <a:ext cx="5404104" cy="3602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99632"/>
            <a:ext cx="5532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실측 auth p95 지연 vs N (bench/run_bench.py 산출)</a:t>
            </a:r>
          </a:p>
        </p:txBody>
      </p:sp>
      <p:pic>
        <p:nvPicPr>
          <p:cNvPr id="9" name="Picture 8" descr="screen_fl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597792"/>
            <a:ext cx="5532120" cy="3491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9632" y="6143872"/>
            <a:ext cx="5532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가상 디바이스 일괄 등록·인증·전송 실행 화면 (단계별 p50/p95/p99)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2. 미들웨어 통신 방식 결정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ETRI 2차 킥오프 매핑 자료 기준 - 기존(1차년도) → 현재(2차년도), 캡처는 실제 실행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5074920" cy="13898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64008"/>
          <a:lstStyle/>
          <a:p>
            <a:pPr algn="ctr"/>
            <a:r>
              <a:rPr sz="1250" b="1" i="0">
                <a:solidFill>
                  <a:srgbClr val="1F3864"/>
                </a:solidFill>
                <a:latin typeface="맑은 고딕"/>
                <a:ea typeface="맑은 고딕"/>
              </a:rPr>
              <a:t>기존 (1차년도)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채널(Channel) 기반 vs 별도 프로토콜 - 비교·선정 없음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RabbitMQ 단일 큐 + 평문 자격증명 하드코딩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605272" y="1444752"/>
            <a:ext cx="566928" cy="475488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987552"/>
            <a:ext cx="5468112" cy="1389888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64008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현재 (2차년도)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• 하이브리드 확정: 제어=KubeEdge 채널 / 데이터·인증=별도 mTLS HTTPS(REST)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• 4축 비교표·판단 기준 수립 + 매니저 공존·샤딩·우선순위 규칙 문서화 (docs/01·02), AMQPS는 옵션 분리</a:t>
            </a:r>
          </a:p>
        </p:txBody>
      </p:sp>
      <p:pic>
        <p:nvPicPr>
          <p:cNvPr id="7" name="Picture 6" descr="screen_comm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977" y="2542032"/>
            <a:ext cx="10454998" cy="3602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99632"/>
            <a:ext cx="112745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docs/01 통신 방식 비교 기준표와 하이브리드 선정 결론 (구현으로 실증됨)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3. 대규모(1,000기) 디바이스 인증 (AAA) ★핵심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ETRI 2차 킥오프 매핑 자료 기준 - 기존(1차년도) → 현재(2차년도), 캡처는 실제 실행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5074920" cy="13898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64008"/>
          <a:lstStyle/>
          <a:p>
            <a:pPr algn="ctr"/>
            <a:r>
              <a:rPr sz="1250" b="1" i="0">
                <a:solidFill>
                  <a:srgbClr val="1F3864"/>
                </a:solidFill>
                <a:latin typeface="맑은 고딕"/>
                <a:ea typeface="맑은 고딕"/>
              </a:rPr>
              <a:t>기존 (1차년도)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단순 JWT 발급 + hostPath 인증서 수동 배포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위조·폐기 대응 없음, 대규모(1,000기) 인증 검증 없음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605272" y="1444752"/>
            <a:ext cx="566928" cy="475488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987552"/>
            <a:ext cx="5468112" cy="1389888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64008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현재 (2차년도)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• 등록(CSR SAN 신원대조) → X.509 발급 → JWT/RBAC → JWS 검증 → 감사 → 폐기 전 주기 구현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• 위조 JWS 거부·폐기 즉시 차단이 감사로그에 실기록 + 실측 기반 1,000기 외삽 검증</a:t>
            </a:r>
          </a:p>
        </p:txBody>
      </p:sp>
      <p:pic>
        <p:nvPicPr>
          <p:cNvPr id="7" name="Picture 6" descr="screen_de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22067"/>
            <a:ext cx="5532120" cy="30426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19597"/>
            <a:ext cx="5532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GET /devices - 등록 상태·인증서 시리얼·last_seen (revoked 포함)</a:t>
            </a:r>
          </a:p>
        </p:txBody>
      </p:sp>
      <p:pic>
        <p:nvPicPr>
          <p:cNvPr id="9" name="Picture 8" descr="screen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3494892"/>
            <a:ext cx="5532120" cy="16970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9632" y="5246771"/>
            <a:ext cx="5532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GET /audit - 인증 성공/위조 JWS 거부/폐기 후 인증 실패 실기록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4. KubeEdge 연동 구조 적용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ETRI 2차 킥오프 매핑 자료 기준 - 기존(1차년도) → 현재(2차년도), 캡처는 실제 실행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5074920" cy="13898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64008"/>
          <a:lstStyle/>
          <a:p>
            <a:pPr algn="ctr"/>
            <a:r>
              <a:rPr sz="1250" b="1" i="0">
                <a:solidFill>
                  <a:srgbClr val="1F3864"/>
                </a:solidFill>
                <a:latin typeface="맑은 고딕"/>
                <a:ea typeface="맑은 고딕"/>
              </a:rPr>
              <a:t>기존 (1차년도)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CloudCore-EdgeCore 설치까지만 - 보안 모듈 적용 구조 없음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IP·자격증명 하드코딩, nodeName으로 노드 직접 지정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605272" y="1444752"/>
            <a:ext cx="566928" cy="475488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987552"/>
            <a:ext cx="5468112" cy="1389888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64008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현재 (2차년도)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• 4계층(Device-Agent-Manager-Backend) 보안 모듈을 KubeEdge 배포 구조에 적용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• edge 라벨 스케줄 + Secret 자동 생성·참조 + __CLOUD_IP__ 치환 (deploy/demo-setup-v2.sh)</a:t>
            </a:r>
          </a:p>
        </p:txBody>
      </p:sp>
      <p:pic>
        <p:nvPicPr>
          <p:cNvPr id="7" name="Picture 6" descr="screen_k8s_y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1543"/>
            <a:ext cx="11274552" cy="32837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40120"/>
            <a:ext cx="112745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agent 매니페스트 1차년도(좌) vs 2차년도(우) - 하드코딩 제거, Secret·edge 라벨 적용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5. 네트워크 구성·주소 체계 (공인 IP)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ETRI 2차 킥오프 매핑 자료 기준 - 기존(1차년도) → 현재(2차년도), 캡처는 실제 실행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5074920" cy="13898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64008"/>
          <a:lstStyle/>
          <a:p>
            <a:pPr algn="ctr"/>
            <a:r>
              <a:rPr sz="1250" b="1" i="0">
                <a:solidFill>
                  <a:srgbClr val="1F3864"/>
                </a:solidFill>
                <a:latin typeface="맑은 고딕"/>
                <a:ea typeface="맑은 고딕"/>
              </a:rPr>
              <a:t>기존 (1차년도)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공인 IP 노출 위험 검토 없음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디바이스가 Manager에 개별 직접 연결 (공인 접점 = 디바이스 수만큼)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605272" y="1444752"/>
            <a:ext cx="566928" cy="475488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987552"/>
            <a:ext cx="5468112" cy="1389888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64008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현재 (2차년도)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• 게이트웨이+사설IP 구조 권고 확정 - 보안성·관리·확장성·1,000기 적용성 4축 비교 (docs/03)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• EdgeGateway 구현: 사설망 하위 디바이스를 단일 인증 업링크(JWS 배치)로 집선, 공인 접점 1개로 축소</a:t>
            </a:r>
          </a:p>
        </p:txBody>
      </p:sp>
      <p:pic>
        <p:nvPicPr>
          <p:cNvPr id="7" name="Picture 6" descr="screen_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19" y="2542032"/>
            <a:ext cx="11154914" cy="3602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99632"/>
            <a:ext cx="112745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EdgeGateway 실제 실행 - 하위 3기 배치 업링크, Manager에는 게이트웨이 신원만 노출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6. 보안 모듈-프레임워크 연동 역할 정립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ETRI 2차 킥오프 매핑 자료 기준 - 기존(1차년도) → 현재(2차년도), 캡처는 실제 실행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5074920" cy="13898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64008"/>
          <a:lstStyle/>
          <a:p>
            <a:pPr algn="ctr"/>
            <a:r>
              <a:rPr sz="1250" b="1" i="0">
                <a:solidFill>
                  <a:srgbClr val="1F3864"/>
                </a:solidFill>
                <a:latin typeface="맑은 고딕"/>
                <a:ea typeface="맑은 고딕"/>
              </a:rPr>
              <a:t>기존 (1차년도)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보안 모듈과 프레임워크 간 통합 역할·인터페이스 불명확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타 기관 연동 구조·범위 미정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605272" y="1444752"/>
            <a:ext cx="566928" cy="475488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987552"/>
            <a:ext cx="5468112" cy="1389888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64008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현재 (2차년도)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• 상명대 = 보안 코어 모듈 제공자 확정 + R&amp;R 문서화 (docs/04)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• API 계약 9종·인증서 프로파일·JWT 클레임 규격 명세, Swagger(OpenAPI)로 기계가독 계약 제공</a:t>
            </a:r>
          </a:p>
        </p:txBody>
      </p:sp>
      <p:pic>
        <p:nvPicPr>
          <p:cNvPr id="7" name="Picture 6" descr="screen_swa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451" y="2542032"/>
            <a:ext cx="5332049" cy="3602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99632"/>
            <a:ext cx="112745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Swagger UI(/docs) - Manager 전체 API 계약, docs/04 §2 인터페이스 명세와 1:1 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7. 시연 구성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ETRI 2차 킥오프 매핑 자료 기준 - 기존(1차년도) → 현재(2차년도), 캡처는 실제 실행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5074920" cy="13898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64008"/>
          <a:lstStyle/>
          <a:p>
            <a:pPr algn="ctr"/>
            <a:r>
              <a:rPr sz="1250" b="1" i="0">
                <a:solidFill>
                  <a:srgbClr val="1F3864"/>
                </a:solidFill>
                <a:latin typeface="맑은 고딕"/>
                <a:ea typeface="맑은 고딕"/>
              </a:rPr>
              <a:t>기존 (1차년도)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메시지 왕복 데모(demo-test.sh)뿐 - 보안 적용 전·후 비교 없음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605272" y="1444752"/>
            <a:ext cx="566928" cy="475488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987552"/>
            <a:ext cx="5468112" cy="1389888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64008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현재 (2차년도)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• 보안·인증 적용 전·후 비교 시연 구현: 미인증 주입 200 수용(BEFORE) → 401 거부(AFTER)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• 정식 등록·인증 디바이스만 전송 성공, 감사로그 tail 동시 출력 (demo/run_demo.py, 영상 촬영 포인트 포함)</a:t>
            </a:r>
          </a:p>
        </p:txBody>
      </p:sp>
      <p:pic>
        <p:nvPicPr>
          <p:cNvPr id="7" name="Picture 6" descr="screen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419" y="2542032"/>
            <a:ext cx="6018114" cy="3602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99632"/>
            <a:ext cx="112745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demo/run_demo.py --fast 실제 실행 - 전·후 비교와 감사로그가 한 화면에 기록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